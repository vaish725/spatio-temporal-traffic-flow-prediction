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" charset="1" panose="00000500000000000000"/>
      <p:regular r:id="rId12"/>
    </p:embeddedFont>
    <p:embeddedFont>
      <p:font typeface="Lato" charset="1" panose="020F0502020204030203"/>
      <p:regular r:id="rId13"/>
    </p:embeddedFont>
    <p:embeddedFont>
      <p:font typeface="Poppins Bold" charset="1" panose="00000800000000000000"/>
      <p:regular r:id="rId14"/>
    </p:embeddedFont>
    <p:embeddedFont>
      <p:font typeface="Lato Bold" charset="1" panose="020F05020202040302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https://github.com/vaish725/Spatio-Temporal-Traffic-Flow-Prediction.gi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12093" y="3861692"/>
            <a:ext cx="6752253" cy="4854167"/>
          </a:xfrm>
          <a:custGeom>
            <a:avLst/>
            <a:gdLst/>
            <a:ahLst/>
            <a:cxnLst/>
            <a:rect r="r" b="b" t="t" l="l"/>
            <a:pathLst>
              <a:path h="4854167" w="6752253">
                <a:moveTo>
                  <a:pt x="0" y="0"/>
                </a:moveTo>
                <a:lnTo>
                  <a:pt x="6752253" y="0"/>
                </a:lnTo>
                <a:lnTo>
                  <a:pt x="6752253" y="4854167"/>
                </a:lnTo>
                <a:lnTo>
                  <a:pt x="0" y="4854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750532"/>
            <a:ext cx="11411477" cy="163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1"/>
              </a:lnSpc>
            </a:pPr>
            <a:r>
              <a:rPr lang="en-US" sz="561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SPATIO-TEMPORAL TRAFFIC FLOW PREDICTION USING DCRNN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6669" y="882426"/>
            <a:ext cx="282527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  <a:hlinkClick r:id="rId5" tooltip="https://github.com/vaish725/Spatio-Temporal-Traffic-Flow-Prediction.git"/>
              </a:rPr>
              <a:t>Github Repository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21687"/>
            <a:ext cx="9002785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Vaishnavi Kamdi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G48986897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CSCI 6365-80 Advanced 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129905"/>
            <a:ext cx="10736487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Traffic Flow Forecasting using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Diffusion Convolutional Recurrent Neural Network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059170"/>
            <a:ext cx="585318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91252" y="1436053"/>
            <a:ext cx="10174659" cy="756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347" indent="-35617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Problem: Predict traffic speeds 1 hour ahead across 325 sensors</a:t>
            </a:r>
          </a:p>
          <a:p>
            <a:pPr algn="l">
              <a:lnSpc>
                <a:spcPts val="4619"/>
              </a:lnSpc>
            </a:pPr>
          </a:p>
          <a:p>
            <a:pPr algn="l" marL="712347" indent="-35617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Challenge: Complex </a:t>
            </a:r>
            <a:r>
              <a:rPr lang="en-US" sz="329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spatio-temporal dependencies</a:t>
            </a:r>
          </a:p>
          <a:p>
            <a:pPr algn="l" marL="1424694" indent="-474898" lvl="2">
              <a:lnSpc>
                <a:spcPts val="4619"/>
              </a:lnSpc>
              <a:buFont typeface="Arial"/>
              <a:buChar char="⚬"/>
            </a:pPr>
            <a:r>
              <a:rPr lang="en-US" sz="329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Spatial: Traffic at one location affects neighbors</a:t>
            </a:r>
          </a:p>
          <a:p>
            <a:pPr algn="l" marL="1424694" indent="-474898" lvl="2">
              <a:lnSpc>
                <a:spcPts val="4619"/>
              </a:lnSpc>
              <a:buFont typeface="Arial"/>
              <a:buChar char="⚬"/>
            </a:pPr>
            <a:r>
              <a:rPr lang="en-US" sz="329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Temporal: Patterns change over time (rush hours, weekends)</a:t>
            </a:r>
          </a:p>
          <a:p>
            <a:pPr algn="l">
              <a:lnSpc>
                <a:spcPts val="4619"/>
              </a:lnSpc>
            </a:pPr>
          </a:p>
          <a:p>
            <a:pPr algn="l" marL="712347" indent="-35617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29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olution: DCRNN - Combines Graph Neural Networks + RNN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5236894" y="3514366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74626" y="236424"/>
            <a:ext cx="15338748" cy="702716"/>
            <a:chOff x="0" y="0"/>
            <a:chExt cx="4039835" cy="1850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9835" cy="185077"/>
            </a:xfrm>
            <a:custGeom>
              <a:avLst/>
              <a:gdLst/>
              <a:ahLst/>
              <a:cxnLst/>
              <a:rect r="r" b="b" t="t" l="l"/>
              <a:pathLst>
                <a:path h="185077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54794"/>
                  </a:lnTo>
                  <a:cubicBezTo>
                    <a:pt x="4039835" y="171519"/>
                    <a:pt x="4026276" y="185077"/>
                    <a:pt x="4009551" y="185077"/>
                  </a:cubicBezTo>
                  <a:lnTo>
                    <a:pt x="30284" y="185077"/>
                  </a:lnTo>
                  <a:cubicBezTo>
                    <a:pt x="13559" y="185077"/>
                    <a:pt x="0" y="171519"/>
                    <a:pt x="0" y="154794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039835" cy="24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DATA AND MODEL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446048" y="2618775"/>
            <a:ext cx="5578231" cy="6356958"/>
          </a:xfrm>
          <a:custGeom>
            <a:avLst/>
            <a:gdLst/>
            <a:ahLst/>
            <a:cxnLst/>
            <a:rect r="r" b="b" t="t" l="l"/>
            <a:pathLst>
              <a:path h="6356958" w="5578231">
                <a:moveTo>
                  <a:pt x="0" y="0"/>
                </a:moveTo>
                <a:lnTo>
                  <a:pt x="5578231" y="0"/>
                </a:lnTo>
                <a:lnTo>
                  <a:pt x="5578231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034" y="4271063"/>
            <a:ext cx="5674027" cy="3470613"/>
          </a:xfrm>
          <a:custGeom>
            <a:avLst/>
            <a:gdLst/>
            <a:ahLst/>
            <a:cxnLst/>
            <a:rect r="r" b="b" t="t" l="l"/>
            <a:pathLst>
              <a:path h="3470613" w="5674027">
                <a:moveTo>
                  <a:pt x="0" y="0"/>
                </a:moveTo>
                <a:lnTo>
                  <a:pt x="5674027" y="0"/>
                </a:lnTo>
                <a:lnTo>
                  <a:pt x="5674027" y="3470613"/>
                </a:lnTo>
                <a:lnTo>
                  <a:pt x="0" y="3470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51961" y="4271063"/>
            <a:ext cx="5650385" cy="3470613"/>
          </a:xfrm>
          <a:custGeom>
            <a:avLst/>
            <a:gdLst/>
            <a:ahLst/>
            <a:cxnLst/>
            <a:rect r="r" b="b" t="t" l="l"/>
            <a:pathLst>
              <a:path h="3470613" w="5650385">
                <a:moveTo>
                  <a:pt x="0" y="0"/>
                </a:moveTo>
                <a:lnTo>
                  <a:pt x="5650385" y="0"/>
                </a:lnTo>
                <a:lnTo>
                  <a:pt x="5650385" y="3470613"/>
                </a:lnTo>
                <a:lnTo>
                  <a:pt x="0" y="3470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51328" y="2571150"/>
            <a:ext cx="7437591" cy="169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805" indent="-264402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325 sensors, San Francisco Bay Area</a:t>
            </a:r>
          </a:p>
          <a:p>
            <a:pPr algn="just" marL="528805" indent="-264402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6 months (52,116 timesteps at 5-min intervals)</a:t>
            </a:r>
          </a:p>
          <a:p>
            <a:pPr algn="just" marL="528805" indent="-264402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Split: 70% train / 15% val / 15% test</a:t>
            </a:r>
          </a:p>
          <a:p>
            <a:pPr algn="just">
              <a:lnSpc>
                <a:spcPts val="342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1328" y="1786331"/>
            <a:ext cx="473392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PEMS-BAY Dataset: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46048" y="1786331"/>
            <a:ext cx="473392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DCRNN Architecture: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50446" y="6476864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3734" y="189040"/>
            <a:ext cx="15015072" cy="839660"/>
            <a:chOff x="0" y="0"/>
            <a:chExt cx="3954587" cy="2211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4587" cy="221145"/>
            </a:xfrm>
            <a:custGeom>
              <a:avLst/>
              <a:gdLst/>
              <a:ahLst/>
              <a:cxnLst/>
              <a:rect r="r" b="b" t="t" l="l"/>
              <a:pathLst>
                <a:path h="221145" w="3954587">
                  <a:moveTo>
                    <a:pt x="30937" y="0"/>
                  </a:moveTo>
                  <a:lnTo>
                    <a:pt x="3923650" y="0"/>
                  </a:lnTo>
                  <a:cubicBezTo>
                    <a:pt x="3940736" y="0"/>
                    <a:pt x="3954587" y="13851"/>
                    <a:pt x="3954587" y="30937"/>
                  </a:cubicBezTo>
                  <a:lnTo>
                    <a:pt x="3954587" y="190208"/>
                  </a:lnTo>
                  <a:cubicBezTo>
                    <a:pt x="3954587" y="198413"/>
                    <a:pt x="3951327" y="206282"/>
                    <a:pt x="3945526" y="212084"/>
                  </a:cubicBezTo>
                  <a:cubicBezTo>
                    <a:pt x="3939724" y="217886"/>
                    <a:pt x="3931855" y="221145"/>
                    <a:pt x="3923650" y="221145"/>
                  </a:cubicBezTo>
                  <a:lnTo>
                    <a:pt x="30937" y="221145"/>
                  </a:lnTo>
                  <a:cubicBezTo>
                    <a:pt x="22732" y="221145"/>
                    <a:pt x="14863" y="217886"/>
                    <a:pt x="9061" y="212084"/>
                  </a:cubicBezTo>
                  <a:cubicBezTo>
                    <a:pt x="3259" y="206282"/>
                    <a:pt x="0" y="198413"/>
                    <a:pt x="0" y="190208"/>
                  </a:cubicBezTo>
                  <a:lnTo>
                    <a:pt x="0" y="30937"/>
                  </a:lnTo>
                  <a:cubicBezTo>
                    <a:pt x="0" y="22732"/>
                    <a:pt x="3259" y="14863"/>
                    <a:pt x="9061" y="9061"/>
                  </a:cubicBezTo>
                  <a:cubicBezTo>
                    <a:pt x="14863" y="3259"/>
                    <a:pt x="22732" y="0"/>
                    <a:pt x="3093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54587" cy="259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95519" y="1691707"/>
          <a:ext cx="5752989" cy="3451793"/>
        </p:xfrm>
        <a:graphic>
          <a:graphicData uri="http://schemas.openxmlformats.org/drawingml/2006/table">
            <a:tbl>
              <a:tblPr/>
              <a:tblGrid>
                <a:gridCol w="2718578"/>
                <a:gridCol w="3034411"/>
              </a:tblGrid>
              <a:tr h="862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Test 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</a:tr>
              <a:tr h="862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1.930 mph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</a:tr>
              <a:tr h="862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3.946 mph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</a:tr>
              <a:tr h="862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4.48%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1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1436124" y="5941293"/>
            <a:ext cx="6457702" cy="3874621"/>
          </a:xfrm>
          <a:custGeom>
            <a:avLst/>
            <a:gdLst/>
            <a:ahLst/>
            <a:cxnLst/>
            <a:rect r="r" b="b" t="t" l="l"/>
            <a:pathLst>
              <a:path h="3874621" w="6457702">
                <a:moveTo>
                  <a:pt x="0" y="0"/>
                </a:moveTo>
                <a:lnTo>
                  <a:pt x="6457702" y="0"/>
                </a:lnTo>
                <a:lnTo>
                  <a:pt x="6457702" y="3874621"/>
                </a:lnTo>
                <a:lnTo>
                  <a:pt x="0" y="3874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5519" y="5941293"/>
            <a:ext cx="10848940" cy="3874621"/>
          </a:xfrm>
          <a:custGeom>
            <a:avLst/>
            <a:gdLst/>
            <a:ahLst/>
            <a:cxnLst/>
            <a:rect r="r" b="b" t="t" l="l"/>
            <a:pathLst>
              <a:path h="3874621" w="10848940">
                <a:moveTo>
                  <a:pt x="0" y="0"/>
                </a:moveTo>
                <a:lnTo>
                  <a:pt x="10848940" y="0"/>
                </a:lnTo>
                <a:lnTo>
                  <a:pt x="10848940" y="3874621"/>
                </a:lnTo>
                <a:lnTo>
                  <a:pt x="0" y="3874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8912" y="269216"/>
            <a:ext cx="14390176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50903" y="1356052"/>
            <a:ext cx="5586194" cy="428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38"/>
              </a:lnSpc>
              <a:spcBef>
                <a:spcPct val="0"/>
              </a:spcBef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PERFORMANCE CONTEXT</a:t>
            </a:r>
          </a:p>
          <a:p>
            <a:pPr algn="just" marL="483950" indent="-241975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Our DCRNN: 1.930 mph MAE</a:t>
            </a:r>
          </a:p>
          <a:p>
            <a:pPr algn="just" marL="483950" indent="-241975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Original Paper: ~2-3 mph (typical)</a:t>
            </a:r>
          </a:p>
          <a:p>
            <a:pPr algn="just" marL="483950" indent="-241975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Historical Average: ~8 mph</a:t>
            </a:r>
          </a:p>
          <a:p>
            <a:pPr algn="just" marL="483950" indent="-241975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77.5% better than naive!</a:t>
            </a:r>
          </a:p>
          <a:p>
            <a:pPr algn="just">
              <a:lnSpc>
                <a:spcPts val="3138"/>
              </a:lnSpc>
            </a:pPr>
          </a:p>
          <a:p>
            <a:pPr algn="just">
              <a:lnSpc>
                <a:spcPts val="3138"/>
              </a:lnSpc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Multi-Horizon Performance:</a:t>
            </a:r>
          </a:p>
          <a:p>
            <a:pPr algn="just" marL="483950" indent="-241975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15 min ahead: 1.64 mph MAE</a:t>
            </a:r>
          </a:p>
          <a:p>
            <a:pPr algn="just" marL="483950" indent="-241975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30 min ahead: 1.93 mph MAE</a:t>
            </a:r>
          </a:p>
          <a:p>
            <a:pPr algn="just" marL="483950" indent="-241975" lvl="1">
              <a:lnSpc>
                <a:spcPts val="3138"/>
              </a:lnSpc>
              <a:buFont typeface="Arial"/>
              <a:buChar char="•"/>
            </a:pPr>
            <a:r>
              <a:rPr lang="en-US" sz="2241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60 min ahead: 2.18 mph MAE</a:t>
            </a:r>
          </a:p>
          <a:p>
            <a:pPr algn="just">
              <a:lnSpc>
                <a:spcPts val="313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114298" y="1242734"/>
            <a:ext cx="6779528" cy="444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KEY ACHIEVEMENTS:</a:t>
            </a:r>
          </a:p>
          <a:p>
            <a:pPr algn="just">
              <a:lnSpc>
                <a:spcPts val="2721"/>
              </a:lnSpc>
              <a:spcBef>
                <a:spcPct val="0"/>
              </a:spcBef>
            </a:pPr>
          </a:p>
          <a:p>
            <a:pPr algn="just" marL="419690" indent="-209845" lvl="1">
              <a:lnSpc>
                <a:spcPts val="2721"/>
              </a:lnSpc>
              <a:buFont typeface="Arial"/>
              <a:buChar char="•"/>
            </a:pP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Excellent Generalization: Test (1.93) &lt; Validation (2.10) mph</a:t>
            </a:r>
          </a:p>
          <a:p>
            <a:pPr algn="just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   → No overfitting!</a:t>
            </a:r>
          </a:p>
          <a:p>
            <a:pPr algn="just">
              <a:lnSpc>
                <a:spcPts val="2721"/>
              </a:lnSpc>
              <a:spcBef>
                <a:spcPct val="0"/>
              </a:spcBef>
            </a:pPr>
          </a:p>
          <a:p>
            <a:pPr algn="just" marL="419690" indent="-209845" lvl="1">
              <a:lnSpc>
                <a:spcPts val="2721"/>
              </a:lnSpc>
              <a:spcBef>
                <a:spcPct val="0"/>
              </a:spcBef>
              <a:buFont typeface="Arial"/>
              <a:buChar char="•"/>
            </a:pP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Stable Long-term Forecasts: </a:t>
            </a: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Only +0.54 mph degradation (15→60 min)</a:t>
            </a:r>
          </a:p>
          <a:p>
            <a:pPr algn="just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   → Reliable hour-ahead predictions</a:t>
            </a:r>
          </a:p>
          <a:p>
            <a:pPr algn="just">
              <a:lnSpc>
                <a:spcPts val="2721"/>
              </a:lnSpc>
              <a:spcBef>
                <a:spcPct val="0"/>
              </a:spcBef>
            </a:pPr>
          </a:p>
          <a:p>
            <a:pPr algn="just" marL="419690" indent="-209845" lvl="1">
              <a:lnSpc>
                <a:spcPts val="2721"/>
              </a:lnSpc>
              <a:spcBef>
                <a:spcPct val="0"/>
              </a:spcBef>
              <a:buFont typeface="Arial"/>
              <a:buChar char="•"/>
            </a:pP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Production-Ready Accuracy: </a:t>
            </a: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Sub-2 mph error across 325 sensors</a:t>
            </a:r>
          </a:p>
          <a:p>
            <a:pPr algn="just">
              <a:lnSpc>
                <a:spcPts val="2721"/>
              </a:lnSpc>
              <a:spcBef>
                <a:spcPct val="0"/>
              </a:spcBef>
            </a:pPr>
            <a:r>
              <a:rPr lang="en-US" sz="1943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   → Real-world deployment ready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9496">
            <a:off x="-7264740" y="-407573"/>
            <a:ext cx="11026567" cy="7966695"/>
          </a:xfrm>
          <a:custGeom>
            <a:avLst/>
            <a:gdLst/>
            <a:ahLst/>
            <a:cxnLst/>
            <a:rect r="r" b="b" t="t" l="l"/>
            <a:pathLst>
              <a:path h="7966695" w="11026567">
                <a:moveTo>
                  <a:pt x="0" y="0"/>
                </a:moveTo>
                <a:lnTo>
                  <a:pt x="11026566" y="0"/>
                </a:lnTo>
                <a:lnTo>
                  <a:pt x="11026566" y="7966694"/>
                </a:lnTo>
                <a:lnTo>
                  <a:pt x="0" y="7966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1886" y="91884"/>
            <a:ext cx="15362208" cy="650410"/>
            <a:chOff x="0" y="0"/>
            <a:chExt cx="4046014" cy="171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46014" cy="171301"/>
            </a:xfrm>
            <a:custGeom>
              <a:avLst/>
              <a:gdLst/>
              <a:ahLst/>
              <a:cxnLst/>
              <a:rect r="r" b="b" t="t" l="l"/>
              <a:pathLst>
                <a:path h="171301" w="4046014">
                  <a:moveTo>
                    <a:pt x="30238" y="0"/>
                  </a:moveTo>
                  <a:lnTo>
                    <a:pt x="4015776" y="0"/>
                  </a:lnTo>
                  <a:cubicBezTo>
                    <a:pt x="4032476" y="0"/>
                    <a:pt x="4046014" y="13538"/>
                    <a:pt x="4046014" y="30238"/>
                  </a:cubicBezTo>
                  <a:lnTo>
                    <a:pt x="4046014" y="141064"/>
                  </a:lnTo>
                  <a:cubicBezTo>
                    <a:pt x="4046014" y="149083"/>
                    <a:pt x="4042828" y="156774"/>
                    <a:pt x="4037157" y="162445"/>
                  </a:cubicBezTo>
                  <a:cubicBezTo>
                    <a:pt x="4031487" y="168116"/>
                    <a:pt x="4023796" y="171301"/>
                    <a:pt x="4015776" y="171301"/>
                  </a:cubicBezTo>
                  <a:lnTo>
                    <a:pt x="30238" y="171301"/>
                  </a:lnTo>
                  <a:cubicBezTo>
                    <a:pt x="22218" y="171301"/>
                    <a:pt x="14527" y="168116"/>
                    <a:pt x="8856" y="162445"/>
                  </a:cubicBezTo>
                  <a:cubicBezTo>
                    <a:pt x="3186" y="156774"/>
                    <a:pt x="0" y="149083"/>
                    <a:pt x="0" y="141064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6" y="8856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46014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70386" y="172615"/>
            <a:ext cx="396952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DASHBOARD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20176" y="1208417"/>
            <a:ext cx="6650350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TAB 1: NETWORK OVERVIEW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Interactive map of all 325 sensors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Color-coded by current speed/prediction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Network-wide statistics (avg speed, active sensors)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Real-time prediction accuracy metrics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  → Get the big picture at a glance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70526" y="3813175"/>
            <a:ext cx="7938343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TAB 2: SENSOR DETAILS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Select any sensor for deep analysis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Multi-horizon predictions (5, 15, 30, 45, 60 min)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Historical vs predicted speeds (time series)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Performance metrics (MAE, RMSE, MAPE) per sensor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→ Detailed individual sensor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20176" y="6524333"/>
            <a:ext cx="665035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TAB 3: COMPARISON VIEW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Side-by-side comparison (up to 4 sensors)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Identify spatial correlations &amp; patterns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Peak hour analysis &amp; traffic flow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Custom time range filtering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→ Understand sensor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100837">
            <a:off x="12962884" y="428119"/>
            <a:ext cx="8310061" cy="8781453"/>
          </a:xfrm>
          <a:custGeom>
            <a:avLst/>
            <a:gdLst/>
            <a:ahLst/>
            <a:cxnLst/>
            <a:rect r="r" b="b" t="t" l="l"/>
            <a:pathLst>
              <a:path h="8781453" w="8310061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l="0" t="0" r="-381" b="-18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8665" y="3213525"/>
            <a:ext cx="11411477" cy="22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8665" y="5417085"/>
            <a:ext cx="11411477" cy="83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for your time and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DAG6mV3BAyw</dc:identifier>
  <dcterms:modified xsi:type="dcterms:W3CDTF">2011-08-01T06:04:30Z</dcterms:modified>
  <cp:revision>1</cp:revision>
  <dc:title>Copy of Black Elegant and Modern Startup Pitch Deck Presentation</dc:title>
</cp:coreProperties>
</file>